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hreyashjha1/VOIS_Data_Analyst_Major-Project.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638947"/>
            <a:ext cx="4449924" cy="861497"/>
          </a:xfrm>
        </p:spPr>
        <p:txBody>
          <a:bodyPr vert="horz" lIns="91440" tIns="45720" rIns="91440" bIns="45720" rtlCol="0" anchor="t">
            <a:normAutofit fontScale="85000" lnSpcReduction="10000"/>
          </a:bodyPr>
          <a:lstStyle/>
          <a:p>
            <a:r>
              <a:rPr lang="en-US" b="0" dirty="0">
                <a:solidFill>
                  <a:schemeClr val="tx1"/>
                </a:solidFill>
              </a:rPr>
              <a:t>Student name - Shreyash Jha</a:t>
            </a:r>
            <a:endParaRPr lang="en-IN" b="0" dirty="0">
              <a:solidFill>
                <a:schemeClr val="tx1"/>
              </a:solidFill>
            </a:endParaRPr>
          </a:p>
          <a:p>
            <a:r>
              <a:rPr lang="en-US" b="0" dirty="0">
                <a:solidFill>
                  <a:schemeClr val="tx1"/>
                </a:solidFill>
              </a:rPr>
              <a:t>College Name   - K.R Mangalam University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154478" cy="743448"/>
          </a:xfrm>
        </p:spPr>
        <p:txBody>
          <a:bodyPr>
            <a:normAutofit fontScale="90000"/>
          </a:bodyPr>
          <a:lstStyle/>
          <a:p>
            <a:r>
              <a:rPr lang="en-GB" sz="3200" dirty="0"/>
              <a:t>Project Title -</a:t>
            </a:r>
            <a:r>
              <a:rPr lang="en-US" sz="3200" dirty="0"/>
              <a:t> Seasonal Agriculture Performance Analysis</a:t>
            </a:r>
            <a:br>
              <a:rPr lang="en-US" sz="3200"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06491" y="4576469"/>
            <a:ext cx="5206480" cy="369332"/>
          </a:xfrm>
          <a:prstGeom prst="rect">
            <a:avLst/>
          </a:prstGeom>
          <a:noFill/>
        </p:spPr>
        <p:txBody>
          <a:bodyPr wrap="square" rtlCol="0">
            <a:spAutoFit/>
          </a:bodyPr>
          <a:lstStyle/>
          <a:p>
            <a:r>
              <a:rPr lang="en-US" b="1" dirty="0"/>
              <a:t>AICTE STU ID : </a:t>
            </a:r>
            <a:r>
              <a:rPr lang="en-IN" dirty="0"/>
              <a:t>STU68b2a6766894b1756538486</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gn="just">
              <a:lnSpc>
                <a:spcPct val="100000"/>
              </a:lnSpc>
            </a:pPr>
            <a:r>
              <a:rPr lang="en-US" sz="2800" dirty="0"/>
              <a:t> </a:t>
            </a: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analyse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b="0" dirty="0"/>
            </a:br>
            <a:r>
              <a:rPr lang="en-IN" sz="2000" u="sng" dirty="0"/>
              <a:t>Overview:</a:t>
            </a:r>
            <a:r>
              <a:rPr lang="en-IN" sz="1300" u="sng" dirty="0"/>
              <a:t> </a:t>
            </a:r>
            <a:br>
              <a:rPr lang="en-IN" sz="1300" u="sng" dirty="0"/>
            </a:br>
            <a:br>
              <a:rPr lang="en-IN" sz="1300" u="sng" dirty="0"/>
            </a:br>
            <a:r>
              <a:rPr lang="en-IN" sz="1600" b="0" dirty="0"/>
              <a:t>This project analyses agricultural performance across different seasons using Python (Pandas, Seaborn, Matplotlib) in Jupyter Notebook. It provides insights into yield, production, and environmental factors to support data‑driven agricultural planning.</a:t>
            </a:r>
            <a:br>
              <a:rPr lang="en-IN" sz="1600" b="0" dirty="0"/>
            </a:br>
            <a:br>
              <a:rPr lang="en-IN" sz="1300" b="0" dirty="0"/>
            </a:br>
            <a:r>
              <a:rPr lang="en-IN" sz="2000" u="sng" dirty="0"/>
              <a:t> Key Points:</a:t>
            </a:r>
            <a:br>
              <a:rPr lang="en-IN" sz="1300" u="sng" dirty="0"/>
            </a:br>
            <a:br>
              <a:rPr lang="en-IN" sz="1300" b="0" dirty="0"/>
            </a:br>
            <a:r>
              <a:rPr lang="en-IN" sz="1600" b="0" dirty="0"/>
              <a:t>Dataset includes rainfall, temperature, humidity, soil, irrigation, fertilizer, yield, and production</a:t>
            </a:r>
            <a:br>
              <a:rPr lang="en-IN" sz="1600" b="0" dirty="0"/>
            </a:br>
            <a:r>
              <a:rPr lang="en-IN" sz="1600" b="0" dirty="0"/>
              <a:t>Covers 8 phases: Data Cleaning → EDA → Seasonal Analysis → Relationships → Insights → Conclusions → Documentation</a:t>
            </a:r>
            <a:br>
              <a:rPr lang="en-IN" sz="1600" b="0" dirty="0"/>
            </a:br>
            <a:r>
              <a:rPr lang="en-IN" sz="1600" b="0" dirty="0"/>
              <a:t>Visualizations: </a:t>
            </a:r>
            <a:r>
              <a:rPr lang="en-IN" sz="1600" b="0" dirty="0" err="1"/>
              <a:t>barplots</a:t>
            </a:r>
            <a:r>
              <a:rPr lang="en-IN" sz="1600" b="0" dirty="0"/>
              <a:t>, </a:t>
            </a:r>
            <a:r>
              <a:rPr lang="en-IN" sz="1600" b="0" dirty="0" err="1"/>
              <a:t>lineplots</a:t>
            </a:r>
            <a:r>
              <a:rPr lang="en-IN" sz="1600" b="0" dirty="0"/>
              <a:t>, scatterplots, heatmaps for clear trend analysis</a:t>
            </a:r>
            <a:br>
              <a:rPr lang="en-IN" sz="1600" b="0" dirty="0"/>
            </a:br>
            <a:r>
              <a:rPr lang="en-IN" sz="1600" b="0" dirty="0"/>
              <a:t>Identifies correlations between environmental factors and crop yield/production</a:t>
            </a:r>
            <a:br>
              <a:rPr lang="en-IN" sz="1600" b="0" dirty="0"/>
            </a:br>
            <a:r>
              <a:rPr lang="en-IN" sz="1600" b="0" dirty="0"/>
              <a:t>Provides actionable recommendations for efficient resource use and planning</a:t>
            </a:r>
            <a:br>
              <a:rPr lang="en-IN" sz="1600" b="0" dirty="0"/>
            </a:br>
            <a:endParaRPr lang="en-IN" sz="16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lvl="0"/>
            <a:r>
              <a:rPr lang="en-IN" sz="3600" b="1" dirty="0"/>
              <a:t>Farmers &amp; Growers</a:t>
            </a:r>
            <a:r>
              <a:rPr lang="en-IN" sz="3600" dirty="0"/>
              <a:t> → to plan crops, irrigation, and fertilizer use based on seasonal trends.</a:t>
            </a:r>
          </a:p>
          <a:p>
            <a:pPr lvl="0"/>
            <a:r>
              <a:rPr lang="en-IN" sz="3600" b="1" dirty="0"/>
              <a:t>Agricultural Planners &amp; Policy Makers</a:t>
            </a:r>
            <a:r>
              <a:rPr lang="en-IN" sz="3600" dirty="0"/>
              <a:t> → to design strategies for resource allocation and food security.</a:t>
            </a:r>
          </a:p>
          <a:p>
            <a:pPr lvl="0"/>
            <a:r>
              <a:rPr lang="en-IN" sz="3600" b="1" dirty="0"/>
              <a:t>Agri‑business Companies</a:t>
            </a:r>
            <a:r>
              <a:rPr lang="en-IN" sz="3600" dirty="0"/>
              <a:t> → to optimize production, supply chains, and market pricing.</a:t>
            </a:r>
          </a:p>
          <a:p>
            <a:pPr lvl="0"/>
            <a:r>
              <a:rPr lang="en-IN" sz="3600" b="1" dirty="0"/>
              <a:t>Researchers &amp; Data Analysts</a:t>
            </a:r>
            <a:r>
              <a:rPr lang="en-IN" sz="3600" dirty="0"/>
              <a:t> → to study correlations between environmental factors and yield.</a:t>
            </a:r>
          </a:p>
          <a:p>
            <a:pPr lvl="0"/>
            <a:r>
              <a:rPr lang="en-IN" sz="3600" b="1" dirty="0"/>
              <a:t>Educational Institutions</a:t>
            </a:r>
            <a:r>
              <a:rPr lang="en-IN" sz="3600" dirty="0"/>
              <a:t> → to use the project as a case study in data visualization and agricultural analytics.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Programming Language:</a:t>
            </a:r>
            <a:r>
              <a:rPr lang="en-IN" dirty="0"/>
              <a:t> Python</a:t>
            </a:r>
          </a:p>
          <a:p>
            <a:pPr lvl="0"/>
            <a:r>
              <a:rPr lang="en-IN" b="1" dirty="0"/>
              <a:t>Libraries:</a:t>
            </a:r>
            <a:r>
              <a:rPr lang="en-IN" dirty="0"/>
              <a:t> Pandas, Seaborn, Matplotlib</a:t>
            </a:r>
          </a:p>
          <a:p>
            <a:pPr lvl="0"/>
            <a:r>
              <a:rPr lang="en-IN" b="1" dirty="0"/>
              <a:t>Environment:</a:t>
            </a:r>
            <a:r>
              <a:rPr lang="en-IN" dirty="0"/>
              <a:t> Jupyter Notebook</a:t>
            </a:r>
          </a:p>
          <a:p>
            <a:pPr lvl="0"/>
            <a:r>
              <a:rPr lang="en-IN" b="1" dirty="0"/>
              <a:t>Tools:</a:t>
            </a:r>
            <a:r>
              <a:rPr lang="en-IN" dirty="0"/>
              <a:t> VS Code, Anaconda</a:t>
            </a:r>
          </a:p>
          <a:p>
            <a:pPr lvl="0"/>
            <a:r>
              <a:rPr lang="en-IN" b="1" dirty="0"/>
              <a:t>Data Handling:</a:t>
            </a:r>
            <a:r>
              <a:rPr lang="en-IN" dirty="0"/>
              <a:t> Cleaning, preprocessing, correlation analysis</a:t>
            </a:r>
          </a:p>
          <a:p>
            <a:pPr lvl="0"/>
            <a:r>
              <a:rPr lang="en-IN" b="1" dirty="0"/>
              <a:t>Visualization:</a:t>
            </a:r>
            <a:r>
              <a:rPr lang="en-IN" dirty="0"/>
              <a:t> </a:t>
            </a:r>
            <a:r>
              <a:rPr lang="en-IN" dirty="0" err="1"/>
              <a:t>Barplots</a:t>
            </a:r>
            <a:r>
              <a:rPr lang="en-IN" dirty="0"/>
              <a:t>, </a:t>
            </a:r>
            <a:r>
              <a:rPr lang="en-IN" dirty="0" err="1"/>
              <a:t>lineplots</a:t>
            </a:r>
            <a:r>
              <a:rPr lang="en-IN" dirty="0"/>
              <a:t>, scatterplots, heatmaps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5994852" cy="477520"/>
          </a:xfrm>
        </p:spPr>
        <p:txBody>
          <a:bodyPr vert="horz" lIns="91440" tIns="45720" rIns="91440" bIns="45720" rtlCol="0" anchor="t">
            <a:noAutofit/>
          </a:bodyPr>
          <a:lstStyle/>
          <a:p>
            <a:pPr marL="0" indent="0" algn="just">
              <a:buNone/>
            </a:pPr>
            <a:r>
              <a:rPr lang="en-US" sz="1800" dirty="0"/>
              <a:t>Importing required libraries and loading the dataset.</a:t>
            </a:r>
            <a:endParaRPr lang="en-IN" sz="1800" dirty="0"/>
          </a:p>
        </p:txBody>
      </p:sp>
      <p:pic>
        <p:nvPicPr>
          <p:cNvPr id="3" name="Picture 2">
            <a:extLst>
              <a:ext uri="{FF2B5EF4-FFF2-40B4-BE49-F238E27FC236}">
                <a16:creationId xmlns:a16="http://schemas.microsoft.com/office/drawing/2014/main" id="{66DDFACD-6B59-B31D-E804-A7CE45B95B5B}"/>
              </a:ext>
            </a:extLst>
          </p:cNvPr>
          <p:cNvPicPr>
            <a:picLocks noChangeAspect="1"/>
          </p:cNvPicPr>
          <p:nvPr/>
        </p:nvPicPr>
        <p:blipFill>
          <a:blip r:embed="rId3"/>
          <a:stretch>
            <a:fillRect/>
          </a:stretch>
        </p:blipFill>
        <p:spPr>
          <a:xfrm>
            <a:off x="807164" y="2065535"/>
            <a:ext cx="5883300" cy="396363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3" y="1431693"/>
            <a:ext cx="8747383" cy="477520"/>
          </a:xfrm>
        </p:spPr>
        <p:txBody>
          <a:bodyPr>
            <a:noAutofit/>
          </a:bodyPr>
          <a:lstStyle/>
          <a:p>
            <a:pPr marL="0" indent="0">
              <a:buNone/>
            </a:pPr>
            <a:r>
              <a:rPr lang="en-IN" sz="1800" dirty="0"/>
              <a:t>Duplicate records are checked to determine whether identical observations are present in the dataset.</a:t>
            </a:r>
          </a:p>
        </p:txBody>
      </p:sp>
      <p:pic>
        <p:nvPicPr>
          <p:cNvPr id="3" name="Picture 2">
            <a:extLst>
              <a:ext uri="{FF2B5EF4-FFF2-40B4-BE49-F238E27FC236}">
                <a16:creationId xmlns:a16="http://schemas.microsoft.com/office/drawing/2014/main" id="{F4138E3D-4B91-87C3-138F-B9C6108FD7C5}"/>
              </a:ext>
            </a:extLst>
          </p:cNvPr>
          <p:cNvPicPr>
            <a:picLocks noChangeAspect="1"/>
          </p:cNvPicPr>
          <p:nvPr/>
        </p:nvPicPr>
        <p:blipFill>
          <a:blip r:embed="rId3"/>
          <a:stretch>
            <a:fillRect/>
          </a:stretch>
        </p:blipFill>
        <p:spPr>
          <a:xfrm>
            <a:off x="5082302" y="2524758"/>
            <a:ext cx="4857767" cy="433324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 </a:t>
            </a:r>
            <a:endParaRPr lang="en-IN" dirty="0"/>
          </a:p>
        </p:txBody>
      </p:sp>
      <p:pic>
        <p:nvPicPr>
          <p:cNvPr id="3" name="Picture 2">
            <a:extLst>
              <a:ext uri="{FF2B5EF4-FFF2-40B4-BE49-F238E27FC236}">
                <a16:creationId xmlns:a16="http://schemas.microsoft.com/office/drawing/2014/main" id="{46429A43-C53F-B3BF-9FC0-D1E013CC26A5}"/>
              </a:ext>
            </a:extLst>
          </p:cNvPr>
          <p:cNvPicPr>
            <a:picLocks noChangeAspect="1"/>
          </p:cNvPicPr>
          <p:nvPr/>
        </p:nvPicPr>
        <p:blipFill>
          <a:blip r:embed="rId3"/>
          <a:stretch>
            <a:fillRect/>
          </a:stretch>
        </p:blipFill>
        <p:spPr>
          <a:xfrm>
            <a:off x="1886859" y="1594414"/>
            <a:ext cx="5469550" cy="446869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 </a:t>
            </a:r>
            <a:endParaRPr lang="en-IN" dirty="0"/>
          </a:p>
        </p:txBody>
      </p:sp>
      <p:pic>
        <p:nvPicPr>
          <p:cNvPr id="3" name="Picture 2">
            <a:extLst>
              <a:ext uri="{FF2B5EF4-FFF2-40B4-BE49-F238E27FC236}">
                <a16:creationId xmlns:a16="http://schemas.microsoft.com/office/drawing/2014/main" id="{097ADED7-462E-1DB0-471A-0D070E5BD5B2}"/>
              </a:ext>
            </a:extLst>
          </p:cNvPr>
          <p:cNvPicPr>
            <a:picLocks noChangeAspect="1"/>
          </p:cNvPicPr>
          <p:nvPr/>
        </p:nvPicPr>
        <p:blipFill>
          <a:blip r:embed="rId3"/>
          <a:stretch>
            <a:fillRect/>
          </a:stretch>
        </p:blipFill>
        <p:spPr>
          <a:xfrm>
            <a:off x="2158278" y="1608410"/>
            <a:ext cx="5941547" cy="443554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 </a:t>
            </a:r>
            <a:endParaRPr lang="en-IN" dirty="0"/>
          </a:p>
        </p:txBody>
      </p:sp>
      <p:pic>
        <p:nvPicPr>
          <p:cNvPr id="3" name="Picture 2">
            <a:extLst>
              <a:ext uri="{FF2B5EF4-FFF2-40B4-BE49-F238E27FC236}">
                <a16:creationId xmlns:a16="http://schemas.microsoft.com/office/drawing/2014/main" id="{CBFC097A-3E3D-616B-55DB-E3B5FCD8079B}"/>
              </a:ext>
            </a:extLst>
          </p:cNvPr>
          <p:cNvPicPr>
            <a:picLocks noChangeAspect="1"/>
          </p:cNvPicPr>
          <p:nvPr/>
        </p:nvPicPr>
        <p:blipFill>
          <a:blip r:embed="rId3"/>
          <a:stretch>
            <a:fillRect/>
          </a:stretch>
        </p:blipFill>
        <p:spPr>
          <a:xfrm>
            <a:off x="1747519" y="1431693"/>
            <a:ext cx="6196834" cy="449946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93B6C27-F070-E4BC-6110-FD944CBE25C5}"/>
              </a:ext>
            </a:extLst>
          </p:cNvPr>
          <p:cNvSpPr txBox="1"/>
          <p:nvPr/>
        </p:nvSpPr>
        <p:spPr>
          <a:xfrm>
            <a:off x="522515" y="1758661"/>
            <a:ext cx="8845420" cy="3416320"/>
          </a:xfrm>
          <a:prstGeom prst="rect">
            <a:avLst/>
          </a:prstGeom>
          <a:noFill/>
        </p:spPr>
        <p:txBody>
          <a:bodyPr wrap="square" rtlCol="0">
            <a:spAutoFit/>
          </a:bodyPr>
          <a:lstStyle/>
          <a:p>
            <a:pPr marL="285750" lvl="0" indent="-285750">
              <a:buFont typeface="Arial" panose="020B0604020202020204" pitchFamily="34" charset="0"/>
              <a:buChar char="•"/>
            </a:pPr>
            <a:r>
              <a:rPr lang="en-IN" b="1" dirty="0"/>
              <a:t>Integration with Real‑time Data:</a:t>
            </a:r>
            <a:r>
              <a:rPr lang="en-IN" dirty="0"/>
              <a:t> Connect to live weather and rainfall APIs for dynamic predictions.</a:t>
            </a:r>
          </a:p>
          <a:p>
            <a:pPr marL="285750" lvl="0" indent="-285750">
              <a:buFont typeface="Arial" panose="020B0604020202020204" pitchFamily="34" charset="0"/>
              <a:buChar char="•"/>
            </a:pPr>
            <a:r>
              <a:rPr lang="en-IN" b="1" dirty="0"/>
              <a:t>Machine Learning Models:</a:t>
            </a:r>
            <a:r>
              <a:rPr lang="en-IN" dirty="0"/>
              <a:t> Build predictive models for yield forecasting and risk analysis.</a:t>
            </a:r>
          </a:p>
          <a:p>
            <a:pPr marL="285750" lvl="0" indent="-285750">
              <a:buFont typeface="Arial" panose="020B0604020202020204" pitchFamily="34" charset="0"/>
              <a:buChar char="•"/>
            </a:pPr>
            <a:r>
              <a:rPr lang="en-IN" b="1" dirty="0"/>
              <a:t>Scalability:</a:t>
            </a:r>
            <a:r>
              <a:rPr lang="en-IN" dirty="0"/>
              <a:t> Extend analysis to larger datasets across multiple regions and crop types.</a:t>
            </a:r>
          </a:p>
          <a:p>
            <a:pPr marL="285750" lvl="0" indent="-285750">
              <a:buFont typeface="Arial" panose="020B0604020202020204" pitchFamily="34" charset="0"/>
              <a:buChar char="•"/>
            </a:pPr>
            <a:r>
              <a:rPr lang="en-IN" b="1" dirty="0"/>
              <a:t>Decision Support Systems:</a:t>
            </a:r>
            <a:r>
              <a:rPr lang="en-IN" dirty="0"/>
              <a:t> Develop dashboards for farmers and policymakers to make data‑driven decisions.</a:t>
            </a:r>
          </a:p>
          <a:p>
            <a:pPr marL="285750" lvl="0" indent="-285750">
              <a:buFont typeface="Arial" panose="020B0604020202020204" pitchFamily="34" charset="0"/>
              <a:buChar char="•"/>
            </a:pPr>
            <a:r>
              <a:rPr lang="en-IN" b="1" dirty="0"/>
              <a:t>IoT &amp; Sensors:</a:t>
            </a:r>
            <a:r>
              <a:rPr lang="en-IN" dirty="0"/>
              <a:t> Incorporate soil moisture, temperature, and humidity sensors for precision agriculture.</a:t>
            </a:r>
          </a:p>
          <a:p>
            <a:pPr marL="285750" lvl="0" indent="-285750">
              <a:buFont typeface="Arial" panose="020B0604020202020204" pitchFamily="34" charset="0"/>
              <a:buChar char="•"/>
            </a:pPr>
            <a:r>
              <a:rPr lang="en-IN" b="1" dirty="0"/>
              <a:t>Cloud Deployment: </a:t>
            </a:r>
            <a:r>
              <a:rPr lang="en-IN" dirty="0"/>
              <a:t>Host the solution on platforms like AWS/Azure for accessibility and collaboration.</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067C70B-CBCE-A175-0591-1E712D6CBCD7}"/>
              </a:ext>
            </a:extLst>
          </p:cNvPr>
          <p:cNvSpPr txBox="1"/>
          <p:nvPr/>
        </p:nvSpPr>
        <p:spPr>
          <a:xfrm>
            <a:off x="877078" y="2912823"/>
            <a:ext cx="7903765" cy="369332"/>
          </a:xfrm>
          <a:prstGeom prst="rect">
            <a:avLst/>
          </a:prstGeom>
          <a:noFill/>
          <a:ln w="12700">
            <a:solidFill>
              <a:schemeClr val="tx1"/>
            </a:solidFill>
          </a:ln>
        </p:spPr>
        <p:txBody>
          <a:bodyPr wrap="square" rtlCol="0">
            <a:spAutoFit/>
          </a:bodyPr>
          <a:lstStyle/>
          <a:p>
            <a:r>
              <a:rPr lang="en-IN" dirty="0">
                <a:hlinkClick r:id="rId3"/>
              </a:rPr>
              <a:t>https://github.com/Shreyashjha1/VOIS_Data_Analyst_Major-Project.git</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2542571-AFC8-87D2-F2F6-D0EE0130CE3C}"/>
              </a:ext>
            </a:extLst>
          </p:cNvPr>
          <p:cNvPicPr>
            <a:picLocks noChangeAspect="1"/>
          </p:cNvPicPr>
          <p:nvPr/>
        </p:nvPicPr>
        <p:blipFill>
          <a:blip r:embed="rId3"/>
          <a:stretch>
            <a:fillRect/>
          </a:stretch>
        </p:blipFill>
        <p:spPr>
          <a:xfrm>
            <a:off x="1548882" y="1510485"/>
            <a:ext cx="7143969" cy="505795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727864" y="2575533"/>
            <a:ext cx="2139696" cy="344312"/>
          </a:xfrm>
        </p:spPr>
        <p:txBody>
          <a:bodyPr>
            <a:noAutofit/>
          </a:bodyPr>
          <a:lstStyle/>
          <a:p>
            <a:r>
              <a:rPr lang="en-US" sz="4400" dirty="0"/>
              <a:t>Thank You</a:t>
            </a:r>
            <a:endParaRPr lang="en-IN" sz="44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581</TotalTime>
  <Words>545</Words>
  <Application>Microsoft Office PowerPoint</Application>
  <PresentationFormat>Widescreen</PresentationFormat>
  <Paragraphs>45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Overview:   This project analyses agricultural performance across different seasons using Python (Pandas, Seaborn, Matplotlib) in Jupyter Notebook. It provides insights into yield, production, and environmental factors to support data‑driven agricultural planning.   Key Points:  Dataset includes rainfall, temperature, humidity, soil, irrigation, fertilizer, yield, and production Covers 8 phases: Data Cleaning → EDA → Seasonal Analysis → Relationships → Insights → Conclusions → Documentation Visualizations: barplots, lineplots, scatterplots, heatmaps for clear trend analysis Identifies correlations between environmental factors and crop yield/production Provides actionable recommendations for efficient resource use and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Shreyash Jha</cp:lastModifiedBy>
  <cp:revision>110</cp:revision>
  <dcterms:created xsi:type="dcterms:W3CDTF">2021-07-11T13:13:15Z</dcterms:created>
  <dcterms:modified xsi:type="dcterms:W3CDTF">2026-09-07T17:44:17Z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